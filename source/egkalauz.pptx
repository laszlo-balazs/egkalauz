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6" r:id="rId5"/>
    <p:sldId id="260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36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DEA5D5-9772-40AC-F9D8-6F1E6D2D8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77369B6-A1A1-0C28-868A-ADCDDC288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6225BE7-1F6B-17F8-899A-0BB74781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8165BB-963C-059B-0E50-3F247427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AA0CBA-3DD1-40D6-88C8-69F55778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630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A50180-39D8-0048-7043-36928774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C73B0C-E454-30FF-CE35-F1E7FC66A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E0B56D4-C073-D8DA-DC41-D312E1D6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4245FDA-9B68-8C30-6985-F0B8ED25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214A33-A1BE-9282-A5BB-9642115B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039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AD5655-D433-82C5-23D6-945E0C4B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A1C2EC-4773-4E2C-6AA0-6742AA847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5C6DB6-BED5-957E-9EA3-FE9D449A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D99C8D-DB5D-7169-7728-80970FCD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03101DA-6626-FD39-3832-BC530A09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819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7CDD2A-FBCF-41EC-571F-35DB5649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35E6F2-7831-211B-1B19-A2977E7BB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05C2F3A-9979-8B2E-65D8-CB72379AE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308E182-496F-E318-D826-DCE17554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E07DCB5-5E3A-1869-280E-89D0C360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E62E108-97B3-4641-09B3-22083D5B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204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169DFB-9487-C3A2-A0E7-E6B2727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4DA43D5-3551-3733-E7B5-94AE381CE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20CAFC7-273F-CAF1-EDA1-64795FFB2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FD8BEEB-B3A0-5D6E-5537-21C0D99F9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96CE7D3-5A0E-275B-2AA4-BC51C8089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AF78EA2-C13C-1E46-B344-0393FD70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8815370-E83E-A58C-03AC-B8047DA3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FB177C4-FB2E-7AF1-CABF-FEC5870D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846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31423B-8B61-BF41-258B-942A2EE8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6C65011-838A-BF34-A807-37FA7F16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CC9ADA7-E408-11D5-94F8-F340E796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45AC006-CB69-4E7F-F308-518436D3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421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144B384-F2CA-9D7A-29E6-29C03996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539E1AC-87A3-70AE-11EA-7E59CBB6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1418D12-A7DB-FFC4-BEF6-86ECBBE4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412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516F3A-5F14-3CD6-695C-2EB42CF6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406DFF-CF60-78B1-B352-C4736B77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215563A-A87D-4769-D5F6-088FA9491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BFC1F4-6EEF-B25B-C96D-8FA07256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D20D28B-0F28-13F8-0F63-3065B59E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CF30538-3B3F-D731-1294-702BD663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053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D93A21-E89A-6E45-A330-284C26D3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FFE029C-98A8-8534-3930-57A8FFE534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85C15E7-4BD5-8204-EDEF-535B3CB0D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63BFBDB-0323-7A74-F3A5-E6D3EF7E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5DA8B15-258C-4551-9040-6E45E925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6BE7721-2E5B-D89E-B04A-066B085F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902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934400-9194-9563-16C4-6C30F745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B4DDCDE-2E11-1A32-1647-F40D747EC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76C2D7-8989-03CF-FC82-04CB618F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885097-9BFC-806D-68D6-1007A0CC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C48B62E-84AD-5B50-CB9D-9B22FA0B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521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27ED90B-36F3-452A-0B9F-2354A5E0E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A580360-DD73-097D-3BF4-AD991682F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AB15C33-56DB-8DD3-ADA1-2660022E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8FE618-298E-F5AE-6AFC-7ABA05EB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C03FE5-26CF-10FD-F82C-0A423B2C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993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3E1BFC0-A7C8-9F2C-592C-A98367AE122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9125" y="-3196166"/>
            <a:ext cx="16935450" cy="11290300"/>
          </a:xfrm>
          <a:prstGeom prst="rect">
            <a:avLst/>
          </a:prstGeom>
        </p:spPr>
      </p:pic>
      <p:sp>
        <p:nvSpPr>
          <p:cNvPr id="2" name="Cím helye 1">
            <a:extLst>
              <a:ext uri="{FF2B5EF4-FFF2-40B4-BE49-F238E27FC236}">
                <a16:creationId xmlns:a16="http://schemas.microsoft.com/office/drawing/2014/main" id="{C8F469C1-276D-C68D-90B2-6260DFA9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AE352-B943-6CD8-AAA4-4E5272E9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1230777-64D7-1750-EA91-8840D9F7A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8E5B3-A95E-482C-A28A-98DAD7C2ED5C}" type="datetimeFigureOut">
              <a:rPr lang="hu-HU" smtClean="0"/>
              <a:t>2026. 10. 23.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916EE0-868F-67CB-BB3A-71EC5F6DC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A5A022-E8A3-09E5-E217-920F85FFE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87D58-1A0D-420A-95D4-97FB92BB03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810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unsplash.com/photos/the-night-sky-is-filled-with-stars-Q_RBVFFXR_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F272F5-B395-5155-FA01-CE7259F62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/>
              <a:t>Égkalaúz</a:t>
            </a:r>
            <a:endParaRPr lang="hu-HU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4ED8380-46AD-05FD-95A4-E3624B3C1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 László Balázs, Halász Olivér, </a:t>
            </a:r>
          </a:p>
          <a:p>
            <a:r>
              <a:rPr lang="hu-HU" dirty="0"/>
              <a:t>Kónya Levente András, Demeter Áron</a:t>
            </a:r>
          </a:p>
        </p:txBody>
      </p:sp>
    </p:spTree>
    <p:extLst>
      <p:ext uri="{BB962C8B-B14F-4D97-AF65-F5344CB8AC3E}">
        <p14:creationId xmlns:p14="http://schemas.microsoft.com/office/powerpoint/2010/main" val="426603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1589B00-8A56-F384-F5B8-46DF9D0C3B9C}"/>
              </a:ext>
            </a:extLst>
          </p:cNvPr>
          <p:cNvSpPr txBox="1"/>
          <p:nvPr/>
        </p:nvSpPr>
        <p:spPr>
          <a:xfrm>
            <a:off x="7789333" y="366623"/>
            <a:ext cx="392006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A Projekt célja hogy a felhasználók könnyedén tudjanak </a:t>
            </a:r>
            <a:r>
              <a:rPr lang="hu-HU" sz="2800" dirty="0" err="1">
                <a:solidFill>
                  <a:schemeClr val="bg1"/>
                </a:solidFill>
              </a:rPr>
              <a:t>éresülni</a:t>
            </a:r>
            <a:r>
              <a:rPr lang="hu-HU" sz="2800" dirty="0">
                <a:solidFill>
                  <a:schemeClr val="bg1"/>
                </a:solidFill>
              </a:rPr>
              <a:t> mit, hol, mikor tudnak nézni az égbolton. Ezt úgy </a:t>
            </a:r>
            <a:r>
              <a:rPr lang="hu-HU" sz="2800" dirty="0" err="1">
                <a:solidFill>
                  <a:schemeClr val="bg1"/>
                </a:solidFill>
              </a:rPr>
              <a:t>tesszükk</a:t>
            </a:r>
            <a:r>
              <a:rPr lang="hu-HU" sz="2800" dirty="0">
                <a:solidFill>
                  <a:schemeClr val="bg1"/>
                </a:solidFill>
              </a:rPr>
              <a:t> lehetővé hogy </a:t>
            </a:r>
            <a:r>
              <a:rPr lang="hu-HU" sz="2800" dirty="0" err="1">
                <a:solidFill>
                  <a:schemeClr val="bg1"/>
                </a:solidFill>
              </a:rPr>
              <a:t>külömböző</a:t>
            </a:r>
            <a:r>
              <a:rPr lang="hu-HU" sz="2800" dirty="0">
                <a:solidFill>
                  <a:schemeClr val="bg1"/>
                </a:solidFill>
              </a:rPr>
              <a:t> környezeti tényezőkből ki számolja a megfigyeléshez a legjobb helyet és időpontot. Ezenkívül segít a telefon kamerájával eligazodni az égbolton.</a:t>
            </a:r>
          </a:p>
        </p:txBody>
      </p:sp>
      <p:pic>
        <p:nvPicPr>
          <p:cNvPr id="3" name="Kép 2" descr="fig_screens2">
            <a:extLst>
              <a:ext uri="{FF2B5EF4-FFF2-40B4-BE49-F238E27FC236}">
                <a16:creationId xmlns:a16="http://schemas.microsoft.com/office/drawing/2014/main" id="{5136D1EE-248A-CB3A-B7F7-E09EE53F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33" y="1047524"/>
            <a:ext cx="6009061" cy="4525886"/>
          </a:xfrm>
          <a:prstGeom prst="rect">
            <a:avLst/>
          </a:prstGeom>
          <a:effectLst>
            <a:softEdge rad="114300"/>
          </a:effectLst>
        </p:spPr>
      </p:pic>
    </p:spTree>
    <p:extLst>
      <p:ext uri="{BB962C8B-B14F-4D97-AF65-F5344CB8AC3E}">
        <p14:creationId xmlns:p14="http://schemas.microsoft.com/office/powerpoint/2010/main" val="421797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45FDC8-DEB6-F635-409E-61B2C0FF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8095"/>
            <a:ext cx="5477933" cy="4351338"/>
          </a:xfrm>
        </p:spPr>
        <p:txBody>
          <a:bodyPr/>
          <a:lstStyle/>
          <a:p>
            <a:r>
              <a:rPr lang="hu-HU" dirty="0"/>
              <a:t>1. profi és amatőr csillagászok</a:t>
            </a:r>
          </a:p>
          <a:p>
            <a:r>
              <a:rPr lang="hu-HU" dirty="0"/>
              <a:t>2. Iskolák, pedagógusok, </a:t>
            </a:r>
            <a:r>
              <a:rPr lang="hu-HU" dirty="0" err="1"/>
              <a:t>ovodák</a:t>
            </a:r>
            <a:endParaRPr lang="hu-HU" dirty="0"/>
          </a:p>
          <a:p>
            <a:r>
              <a:rPr lang="hu-HU" dirty="0"/>
              <a:t>3. kezdők, érdeklődők</a:t>
            </a:r>
          </a:p>
          <a:p>
            <a:r>
              <a:rPr lang="hu-HU" dirty="0"/>
              <a:t>4. túrázók</a:t>
            </a:r>
          </a:p>
          <a:p>
            <a:endParaRPr lang="hu-HU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EEA55FCE-A66E-F095-BEC5-3C428C357D11}"/>
              </a:ext>
            </a:extLst>
          </p:cNvPr>
          <p:cNvSpPr txBox="1">
            <a:spLocks/>
          </p:cNvSpPr>
          <p:nvPr/>
        </p:nvSpPr>
        <p:spPr>
          <a:xfrm>
            <a:off x="1126066" y="4788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b="1" dirty="0"/>
              <a:t>Célközönség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690AF922-8C11-5EA3-7F58-C653C20EE5F0}"/>
              </a:ext>
            </a:extLst>
          </p:cNvPr>
          <p:cNvSpPr txBox="1"/>
          <p:nvPr/>
        </p:nvSpPr>
        <p:spPr>
          <a:xfrm>
            <a:off x="7382932" y="1066800"/>
            <a:ext cx="436033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Bárki letöltheti az alkalmazást és letöltés után könnyedén használhatják. Ingyen elérhető, de egy kis összegért cserébe rengeteg hasznos funkció válik elérhetővé.</a:t>
            </a:r>
          </a:p>
        </p:txBody>
      </p:sp>
    </p:spTree>
    <p:extLst>
      <p:ext uri="{BB962C8B-B14F-4D97-AF65-F5344CB8AC3E}">
        <p14:creationId xmlns:p14="http://schemas.microsoft.com/office/powerpoint/2010/main" val="361935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4A8F26-0533-E930-6300-C0056CE2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Piac mérete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7A401D-5A65-70E1-6DC6-7BF647E8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Összesen </a:t>
            </a:r>
            <a:r>
              <a:rPr lang="hu-HU" b="1" dirty="0"/>
              <a:t>5.86 billió</a:t>
            </a:r>
            <a:r>
              <a:rPr lang="hu-HU" dirty="0"/>
              <a:t> mobiltelefon használó van, és </a:t>
            </a:r>
            <a:r>
              <a:rPr lang="hu-HU" b="1" dirty="0"/>
              <a:t>50–100 millió</a:t>
            </a:r>
            <a:r>
              <a:rPr lang="hu-HU" dirty="0"/>
              <a:t> ember amatőr csillagász. És </a:t>
            </a:r>
            <a:r>
              <a:rPr lang="hu-HU" b="1" dirty="0"/>
              <a:t>200-300 </a:t>
            </a:r>
            <a:r>
              <a:rPr lang="hu-HU" b="1" dirty="0" err="1"/>
              <a:t>milló</a:t>
            </a:r>
            <a:r>
              <a:rPr lang="hu-HU" b="1" dirty="0"/>
              <a:t> </a:t>
            </a:r>
            <a:r>
              <a:rPr lang="hu-HU" dirty="0"/>
              <a:t>embert érdekli az űrkutatás, csillagászat. 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06180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117D87-8666-2A5F-784D-C2238217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6" y="354542"/>
            <a:ext cx="10515600" cy="1325563"/>
          </a:xfrm>
        </p:spPr>
        <p:txBody>
          <a:bodyPr/>
          <a:lstStyle/>
          <a:p>
            <a:r>
              <a:rPr lang="hu-HU" b="1" dirty="0"/>
              <a:t>Előfizetői csomagok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3710F33-9C3F-D651-D8A6-925FADBF7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577" y="1680105"/>
            <a:ext cx="2936347" cy="823912"/>
          </a:xfrm>
        </p:spPr>
        <p:txBody>
          <a:bodyPr>
            <a:normAutofit fontScale="92500"/>
          </a:bodyPr>
          <a:lstStyle/>
          <a:p>
            <a:r>
              <a:rPr lang="hu-HU" sz="3600" dirty="0"/>
              <a:t>Plusz csomag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6F94483-9EA5-F28F-2DB1-969D2FCE1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0466" y="2511690"/>
            <a:ext cx="3327401" cy="3684588"/>
          </a:xfrm>
        </p:spPr>
        <p:txBody>
          <a:bodyPr>
            <a:normAutofit fontScale="85000" lnSpcReduction="20000"/>
          </a:bodyPr>
          <a:lstStyle/>
          <a:p>
            <a:r>
              <a:rPr lang="hu-HU" b="0" dirty="0"/>
              <a:t>havi 790 Ft</a:t>
            </a:r>
          </a:p>
          <a:p>
            <a:r>
              <a:rPr lang="hu-HU" dirty="0"/>
              <a:t>AR égbolt térkép,</a:t>
            </a:r>
            <a:endParaRPr lang="hu-HU" b="0" dirty="0"/>
          </a:p>
          <a:p>
            <a:r>
              <a:rPr lang="hu-HU" dirty="0"/>
              <a:t>Látás index kalkulátor, </a:t>
            </a:r>
          </a:p>
          <a:p>
            <a:r>
              <a:rPr lang="hu-HU" dirty="0"/>
              <a:t>Sötét hely térkép, </a:t>
            </a:r>
          </a:p>
          <a:p>
            <a:r>
              <a:rPr lang="hu-HU" dirty="0"/>
              <a:t>Esemény értesítés, naptár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96B7453-200A-F55F-40F3-59E94FFB2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01069" y="1700213"/>
            <a:ext cx="3462867" cy="823912"/>
          </a:xfrm>
        </p:spPr>
        <p:txBody>
          <a:bodyPr>
            <a:normAutofit fontScale="92500"/>
          </a:bodyPr>
          <a:lstStyle/>
          <a:p>
            <a:r>
              <a:rPr lang="hu-HU" sz="3600" dirty="0"/>
              <a:t>Pro csomag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1AFD982-CCB2-856A-D04E-55571AA85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75667" y="2544234"/>
            <a:ext cx="3606801" cy="3684588"/>
          </a:xfrm>
        </p:spPr>
        <p:txBody>
          <a:bodyPr>
            <a:normAutofit fontScale="85000" lnSpcReduction="20000"/>
          </a:bodyPr>
          <a:lstStyle/>
          <a:p>
            <a:r>
              <a:rPr lang="hu-HU" b="0" dirty="0"/>
              <a:t>havi 1 490 Ft</a:t>
            </a:r>
          </a:p>
          <a:p>
            <a:r>
              <a:rPr lang="hu-HU" dirty="0"/>
              <a:t>vagy évi 11 990 Ft</a:t>
            </a:r>
          </a:p>
          <a:p>
            <a:r>
              <a:rPr lang="hu-HU" b="0" dirty="0" err="1"/>
              <a:t>Egyszeti</a:t>
            </a:r>
            <a:r>
              <a:rPr lang="hu-HU" b="0" dirty="0"/>
              <a:t> 14 990 Ft</a:t>
            </a:r>
          </a:p>
          <a:p>
            <a:r>
              <a:rPr lang="hu-HU" dirty="0"/>
              <a:t>AR égbolt térkép,</a:t>
            </a:r>
            <a:endParaRPr lang="hu-HU" b="0" dirty="0"/>
          </a:p>
          <a:p>
            <a:r>
              <a:rPr lang="hu-HU" dirty="0"/>
              <a:t>Látás index kalkulátor</a:t>
            </a:r>
          </a:p>
          <a:p>
            <a:r>
              <a:rPr lang="hu-HU" dirty="0"/>
              <a:t>Offline sötét hely térkép, </a:t>
            </a:r>
          </a:p>
          <a:p>
            <a:r>
              <a:rPr lang="hu-HU" dirty="0"/>
              <a:t>Meg figyelési napló</a:t>
            </a:r>
          </a:p>
          <a:p>
            <a:r>
              <a:rPr lang="hu-HU" dirty="0"/>
              <a:t>Személyes esemény értesítés, naptár</a:t>
            </a:r>
          </a:p>
          <a:p>
            <a:endParaRPr lang="hu-HU" dirty="0"/>
          </a:p>
        </p:txBody>
      </p:sp>
      <p:sp>
        <p:nvSpPr>
          <p:cNvPr id="7" name="Tartalom helye 5">
            <a:extLst>
              <a:ext uri="{FF2B5EF4-FFF2-40B4-BE49-F238E27FC236}">
                <a16:creationId xmlns:a16="http://schemas.microsoft.com/office/drawing/2014/main" id="{8C7961F8-DA30-E478-38DE-9AFEF77F6FC7}"/>
              </a:ext>
            </a:extLst>
          </p:cNvPr>
          <p:cNvSpPr txBox="1">
            <a:spLocks/>
          </p:cNvSpPr>
          <p:nvPr/>
        </p:nvSpPr>
        <p:spPr>
          <a:xfrm>
            <a:off x="7890932" y="2505075"/>
            <a:ext cx="3327401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8" name="Szöveg helye 4">
            <a:extLst>
              <a:ext uri="{FF2B5EF4-FFF2-40B4-BE49-F238E27FC236}">
                <a16:creationId xmlns:a16="http://schemas.microsoft.com/office/drawing/2014/main" id="{97FDAA8A-BEF7-403B-ADE4-FC4D1AE8EB64}"/>
              </a:ext>
            </a:extLst>
          </p:cNvPr>
          <p:cNvSpPr txBox="1">
            <a:spLocks/>
          </p:cNvSpPr>
          <p:nvPr/>
        </p:nvSpPr>
        <p:spPr>
          <a:xfrm>
            <a:off x="8068732" y="1681163"/>
            <a:ext cx="346286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3300" dirty="0"/>
              <a:t>Alap</a:t>
            </a:r>
          </a:p>
        </p:txBody>
      </p: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37A81FF8-9F91-352A-CE62-24A6BC98F09D}"/>
              </a:ext>
            </a:extLst>
          </p:cNvPr>
          <p:cNvSpPr txBox="1">
            <a:spLocks/>
          </p:cNvSpPr>
          <p:nvPr/>
        </p:nvSpPr>
        <p:spPr>
          <a:xfrm>
            <a:off x="8068732" y="2544234"/>
            <a:ext cx="3539066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/>
              <a:t>0 Ft, de reklámok vannak</a:t>
            </a:r>
          </a:p>
          <a:p>
            <a:r>
              <a:rPr lang="hu-HU" sz="2400" dirty="0"/>
              <a:t>AR égbolt térkép,</a:t>
            </a:r>
          </a:p>
          <a:p>
            <a:r>
              <a:rPr lang="hu-HU" sz="2400" dirty="0"/>
              <a:t>Látás index kalkulátor, 1 napra</a:t>
            </a:r>
          </a:p>
          <a:p>
            <a:r>
              <a:rPr lang="hu-HU" sz="2400" dirty="0"/>
              <a:t>Fő esemény értesítés, naptár</a:t>
            </a:r>
          </a:p>
        </p:txBody>
      </p:sp>
    </p:spTree>
    <p:extLst>
      <p:ext uri="{BB962C8B-B14F-4D97-AF65-F5344CB8AC3E}">
        <p14:creationId xmlns:p14="http://schemas.microsoft.com/office/powerpoint/2010/main" val="210632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56EFA9-11C8-8157-210A-C99EE2F3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098" cy="1325563"/>
          </a:xfrm>
        </p:spPr>
        <p:txBody>
          <a:bodyPr/>
          <a:lstStyle/>
          <a:p>
            <a:r>
              <a:rPr lang="hu-HU" b="1" dirty="0"/>
              <a:t>Előfizetői csomagok megoszlása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84D7FA3-22C2-4835-1EF1-A30346DD3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409" y="2099107"/>
            <a:ext cx="6324600" cy="4276725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D0E91B8C-4431-5CA8-21E8-2BCEF2A2FC81}"/>
              </a:ext>
            </a:extLst>
          </p:cNvPr>
          <p:cNvSpPr txBox="1"/>
          <p:nvPr/>
        </p:nvSpPr>
        <p:spPr>
          <a:xfrm>
            <a:off x="8961119" y="2304288"/>
            <a:ext cx="2622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Az előfizetésekből összesen 6840 </a:t>
            </a:r>
            <a:r>
              <a:rPr lang="hu-HU" sz="2800">
                <a:solidFill>
                  <a:schemeClr val="bg1"/>
                </a:solidFill>
              </a:rPr>
              <a:t>Ft bevételre teszünk szert </a:t>
            </a:r>
            <a:r>
              <a:rPr lang="hu-HU" sz="2800" dirty="0" err="1">
                <a:solidFill>
                  <a:schemeClr val="bg1"/>
                </a:solidFill>
              </a:rPr>
              <a:t>rendeszeresen</a:t>
            </a:r>
            <a:r>
              <a:rPr lang="hu-HU" sz="2800" dirty="0">
                <a:solidFill>
                  <a:schemeClr val="bg1"/>
                </a:solidFill>
              </a:rPr>
              <a:t>, havonta</a:t>
            </a:r>
          </a:p>
        </p:txBody>
      </p:sp>
    </p:spTree>
    <p:extLst>
      <p:ext uri="{BB962C8B-B14F-4D97-AF65-F5344CB8AC3E}">
        <p14:creationId xmlns:p14="http://schemas.microsoft.com/office/powerpoint/2010/main" val="182079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B87786-AC69-CBB6-A2BA-6C48C86F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Bevételek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7B9DBB3-FF49-FF49-D7DD-94101286A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95" y="1781672"/>
            <a:ext cx="2733675" cy="13049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1372810-930B-4216-8183-AFE5C6AE4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35" y="1781672"/>
            <a:ext cx="4448796" cy="4096322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09DCDFF3-3406-A96F-39F2-62E8E68FE293}"/>
              </a:ext>
            </a:extLst>
          </p:cNvPr>
          <p:cNvSpPr txBox="1"/>
          <p:nvPr/>
        </p:nvSpPr>
        <p:spPr>
          <a:xfrm>
            <a:off x="6344432" y="3363053"/>
            <a:ext cx="26637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Ez összesen 191 650 Ft minimális kiadásokkal.</a:t>
            </a:r>
          </a:p>
        </p:txBody>
      </p:sp>
    </p:spTree>
    <p:extLst>
      <p:ext uri="{BB962C8B-B14F-4D97-AF65-F5344CB8AC3E}">
        <p14:creationId xmlns:p14="http://schemas.microsoft.com/office/powerpoint/2010/main" val="3531537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18975-DF4B-B60E-2400-1C1361F0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4C7D04-2B39-80DB-51B9-6B221B4EE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Háttér: </a:t>
            </a:r>
            <a:r>
              <a:rPr lang="hu-HU" dirty="0">
                <a:hlinkClick r:id="rId2"/>
              </a:rPr>
              <a:t>https://unsplash.com/photos/the-night-sky-is-filled-with-stars-Q_RBVFFXR_g</a:t>
            </a:r>
            <a:endParaRPr lang="hu-HU" dirty="0"/>
          </a:p>
          <a:p>
            <a:r>
              <a:rPr lang="hu-HU" dirty="0" err="1"/>
              <a:t>Grofikonok</a:t>
            </a:r>
            <a:r>
              <a:rPr lang="hu-HU" dirty="0"/>
              <a:t>: Excel dokumentum</a:t>
            </a:r>
          </a:p>
        </p:txBody>
      </p:sp>
    </p:spTree>
    <p:extLst>
      <p:ext uri="{BB962C8B-B14F-4D97-AF65-F5344CB8AC3E}">
        <p14:creationId xmlns:p14="http://schemas.microsoft.com/office/powerpoint/2010/main" val="429040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6DCA7A-F25F-DDE8-402D-9F9DD12E2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DCCA13-176B-F5B5-65DB-DE9CA7BD3F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654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259</Words>
  <Application>Microsoft Office PowerPoint</Application>
  <PresentationFormat>Szélesvásznú</PresentationFormat>
  <Paragraphs>41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Office-téma</vt:lpstr>
      <vt:lpstr>Égkalaúz</vt:lpstr>
      <vt:lpstr>PowerPoint-bemutató</vt:lpstr>
      <vt:lpstr>PowerPoint-bemutató</vt:lpstr>
      <vt:lpstr>Piac mérete</vt:lpstr>
      <vt:lpstr>Előfizetői csomagok</vt:lpstr>
      <vt:lpstr>Előfizetői csomagok megoszlása</vt:lpstr>
      <vt:lpstr>Bevételek</vt:lpstr>
      <vt:lpstr>Források</vt:lpstr>
      <vt:lpstr>Köszönjük a figyelmet.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 K</dc:creator>
  <cp:lastModifiedBy>Levente K</cp:lastModifiedBy>
  <cp:revision>12</cp:revision>
  <dcterms:created xsi:type="dcterms:W3CDTF">2026-10-22T09:40:28Z</dcterms:created>
  <dcterms:modified xsi:type="dcterms:W3CDTF">2026-10-23T10:21:31Z</dcterms:modified>
</cp:coreProperties>
</file>